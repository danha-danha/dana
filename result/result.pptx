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D4ED8"/>
                </a:solidFill>
                <a:latin typeface="Apple SD Gothic Neo"/>
              </a:defRPr>
            </a:pPr>
            <a:r>
              <a:t>DANA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286000"/>
            <a:ext cx="2743200" cy="140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11827"/>
                </a:solidFill>
                <a:latin typeface="Apple SD Gothic Neo"/>
              </a:defRPr>
            </a:pPr>
            <a:r>
              <a:t>토지 매입 의사결정 자동화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Apple SD Gothic Neo"/>
              </a:defRPr>
            </a:pPr>
            <a:r>
              <a:t>2026.06.28  |  정보사업4실  |  김단하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1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ple SD Gothic Neo"/>
              </a:defRPr>
            </a:pPr>
            <a:r>
              <a:t>목차 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ple SD Gothic Ne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</a:defRPr>
            </a:pPr>
            <a:r>
              <a:t>분석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분석 목표 · 데이터 개요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914400" cy="9144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ple SD Gothic Ne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</a:defRPr>
            </a:pPr>
            <a:r>
              <a:t>분석 내용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디테일 분석 · 시각화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914400" cy="9144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ple SD Gothic Neo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</a:defRPr>
            </a:pPr>
            <a:r>
              <a:t>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pple SD Gothic Neo"/>
              </a:defRPr>
            </a:pPr>
            <a:r>
              <a:t>비즈니스 결론 · 액션 아이템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1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ple SD Gothic Neo"/>
              </a:defRPr>
            </a:pPr>
            <a:r>
              <a:t>01  1. 분석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1489"/>
                </a:solidFill>
                <a:latin typeface="Apple SD Gothic Neo"/>
              </a:defRPr>
            </a:pPr>
            <a:r>
              <a:t>1.1 분석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10972800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1489"/>
                </a:solidFill>
                <a:latin typeface="Apple SD Gothic Neo"/>
              </a:defRPr>
            </a:pPr>
            <a:r>
              <a:t>💡 담당자마다 다른 기준으로 토지를 검토하는 비효율을 없애고, 데이터 기반의 일관된 필터링 시스템을 만들 수 있는가?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t>• 현재 토지 검토 프로세스는 월 평균 30건을 검토하지만 실제 매입으로 이어지는 건은 1~2건(매입 성공률 3~7%)에 불과하다. 담당자 1인이 토지 1건당 평균 3일을 투입(등기부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t>• 본 분석은 이 비효율을 해소하기 위해 다음 세 가지를 목표로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t>• 1. Rule-Based 적합도 점수 설계 — 가격상승률·인구증감률 가중합으로 단일 의사결정 점수 산출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t>• 2. 점수의 예측력 통계 검증 — Logistic Regression을 활용해 Rule 점수가 실제 가격 상승을 예측하는지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t>• 3. 3-Model 비교를 통한 정보 요약력 평가 — Rule 점수가 원변수를 얼마나 잘 대리하는지 정량화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649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1489"/>
                </a:solidFill>
                <a:latin typeface="Apple SD Gothic Neo"/>
              </a:defRPr>
            </a:pPr>
            <a:r>
              <a:t>1.2 분석 대상 및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t>• &gt; 변수 선정 배경: 실무에서 고려해야 할 변수(용적률, 공시지가, 미분양률, 접도조건 등)는 다수이나, 본 프로토타입은 API 수집 용이성과 핵심 변수 우선 검증 원칙에 따라 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1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ple SD Gothic Neo"/>
              </a:defRPr>
            </a:pPr>
            <a:r>
              <a:t>02  2.1 지역별 가격 변화 패턴 — 양극화가 심화되고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00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1489"/>
                </a:solidFill>
                <a:latin typeface="Apple SD Gothic Neo"/>
              </a:defRPr>
            </a:pPr>
            <a:r>
              <a:t>💡 2021년 이후 수도권 핵심지와 지방 광역시 간 가격 경로가 완전히 분기되었다.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029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2021 평당가(만원)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2024 평당가(만원)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상승률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라벨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부산 수영구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2,704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▲53.3%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상승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2위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파주시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1,062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1,397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▲31.6%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상승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3위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대구 수성구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▲31.3%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상승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4위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인천 연수구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1,822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2,249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▲23.4%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상승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5위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광주 남구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1,268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▲20.2%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상승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760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1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ple SD Gothic Neo"/>
              </a:defRPr>
            </a:pPr>
            <a:r>
              <a:t>02  2.2 Rule-Based 점수 설계 및 지역 등급 분류 — 단일 점수로 30개 지역의 옥석을 가린다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00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1489"/>
                </a:solidFill>
                <a:latin typeface="Apple SD Gothic Neo"/>
              </a:defRPr>
            </a:pPr>
            <a:r>
              <a:t>💡 도메인 경험 기반의 가중치(가격 50% : 인구 50%)를 적용한 단일 점수가 지역 필터링 도구로서 작동한다.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005840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등급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지역수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해당 지역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00148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0개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최우선 검토 대상 (현재 없음)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4개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부산 수영구(74.2), 파주시(72.5), 대전 유성구(61.5), 인천 연수구(60.1)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조건부 우선 검토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5개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대구 수성구(54.9), 안양 동안구(52.6), 강남구(47.4), 세종시(43.6), 강동구(42.4)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세부 검토 후 판단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21개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광명시(2.4), 성남 분당구(16.8), 성동구(17.5) 외 18개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현재 시점 투자 보류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가격점수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인구점수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Rule점수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실제 상승 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부산 수영구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74.2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✅ 상승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파주시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72.5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pple SD Gothic Neo"/>
                        </a:defRPr>
                      </a:pPr>
                      <a:r>
                        <a:t>✅ 상승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32282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46451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정규화</a:t>
            </a:r>
            <a:r>
              <a:rPr dirty="0"/>
              <a:t>: </a:t>
            </a:r>
            <a:r>
              <a:rPr dirty="0" err="1"/>
              <a:t>가격상승률·인구증감률을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Min-Max Scaling (0~10점)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9033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가중합</a:t>
            </a:r>
            <a:r>
              <a:rPr dirty="0"/>
              <a:t>: `Rule Score = (</a:t>
            </a:r>
            <a:r>
              <a:rPr dirty="0" err="1"/>
              <a:t>price_score</a:t>
            </a:r>
            <a:r>
              <a:rPr dirty="0"/>
              <a:t> × 0.5 + </a:t>
            </a:r>
            <a:r>
              <a:rPr dirty="0" err="1"/>
              <a:t>pop_score</a:t>
            </a:r>
            <a:r>
              <a:rPr dirty="0"/>
              <a:t> × 0.5) × 10` → 0~100점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3552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등급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: A(80점 </a:t>
            </a:r>
            <a:r>
              <a:rPr dirty="0" err="1"/>
              <a:t>이상</a:t>
            </a:r>
            <a:r>
              <a:rPr dirty="0"/>
              <a:t>) / B(60~79점) / C(40~59점) / D(40점 </a:t>
            </a:r>
            <a:r>
              <a:rPr dirty="0" err="1"/>
              <a:t>미만</a:t>
            </a:r>
            <a:r>
              <a:rPr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3270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Apple SD Gothic Neo"/>
              </a:defRPr>
            </a:pPr>
            <a:r>
              <a:t>• 지역별 Rule 점수 및 등급 현황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4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ple SD Gothic Neo"/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A5FA"/>
                </a:solidFill>
                <a:latin typeface="Apple SD Gothic Neo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3C5FD"/>
                </a:solidFill>
                <a:latin typeface="Apple SD Gothic Neo"/>
              </a:defRPr>
            </a:pPr>
            <a:r>
              <a:t>정보사업4실  |  김단하  |  2026.06.28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Macintosh PowerPoint</Application>
  <PresentationFormat>와이드스크린</PresentationFormat>
  <Paragraphs>110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단하</cp:lastModifiedBy>
  <cp:revision>2</cp:revision>
  <dcterms:created xsi:type="dcterms:W3CDTF">2013-01-27T09:14:16Z</dcterms:created>
  <dcterms:modified xsi:type="dcterms:W3CDTF">2026-06-28T12:18:28Z</dcterms:modified>
  <cp:category/>
</cp:coreProperties>
</file>